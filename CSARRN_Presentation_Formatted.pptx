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6" roundtripDataSignature="AMtx7mjGKA+70esKu5XeqMENyUS5A59/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6CAB6DF-AA35-44FD-8625-A441F50053C8}">
  <a:tblStyle styleId="{76CAB6DF-AA35-44FD-8625-A441F50053C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0" name="Google Shape;120;p5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1" name="Google Shape;131;p6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2" name="Google Shape;142;p7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10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1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5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1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1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1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18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2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2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2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28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p29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30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" name="Google Shape;252;p3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0" name="Google Shape;260;p3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p33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5" name="Google Shape;275;p34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4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p48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50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3" name="Google Shape;303;p5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5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5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5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5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6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6.jpg"/><Relationship Id="rId5" Type="http://schemas.openxmlformats.org/officeDocument/2006/relationships/image" Target="../media/image1.jpg"/><Relationship Id="rId6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0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327882" y="399471"/>
            <a:ext cx="4535776" cy="1913273"/>
          </a:xfrm>
          <a:custGeom>
            <a:rect b="b" l="l" r="r" t="t"/>
            <a:pathLst>
              <a:path extrusionOk="0" h="1913273" w="4535776">
                <a:moveTo>
                  <a:pt x="0" y="0"/>
                </a:moveTo>
                <a:lnTo>
                  <a:pt x="4535776" y="0"/>
                </a:lnTo>
                <a:lnTo>
                  <a:pt x="4535776" y="1913272"/>
                </a:lnTo>
                <a:lnTo>
                  <a:pt x="0" y="19132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 b="0" l="15145" r="15145" t="0"/>
          <a:stretch/>
        </p:blipFill>
        <p:spPr>
          <a:xfrm>
            <a:off x="14481688" y="5037821"/>
            <a:ext cx="3099368" cy="519379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3932634" y="8459470"/>
            <a:ext cx="10200862" cy="798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WeArePACT.org</a:t>
            </a:r>
            <a:endParaRPr b="0" i="0" sz="4600" u="none" cap="none" strike="noStrike">
              <a:solidFill>
                <a:srgbClr val="5D5AA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3971850" y="2583643"/>
            <a:ext cx="10422731" cy="31694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Assessing Public Transit Rider Awareness of Sex Trafficking of Minors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932634" y="6156325"/>
            <a:ext cx="10773966" cy="2492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John F. Betak</a:t>
            </a:r>
            <a:r>
              <a:rPr b="0" baseline="30000" i="0" lang="en-US" sz="2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, Ankit Sharma</a:t>
            </a:r>
            <a:r>
              <a:rPr b="0" baseline="30000" i="0" lang="en-US" sz="2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, and Christie L. Nelson</a:t>
            </a:r>
            <a:r>
              <a:rPr b="0" baseline="30000" i="0" lang="en-US" sz="2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5D5AA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baseline="30000" i="0" lang="en-US" sz="2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Collaborative Solutions, LLC, Albuquerque, NM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baseline="30000" i="0" lang="en-US" sz="2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Center for Discrete Mathematics and Theoretical Computer Science (DIMACS), Rutgers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5D5AA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0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16938820" y="8811897"/>
            <a:ext cx="1349180" cy="1475103"/>
          </a:xfrm>
          <a:custGeom>
            <a:rect b="b" l="l" r="r" t="t"/>
            <a:pathLst>
              <a:path extrusionOk="0" h="1475103" w="1349180">
                <a:moveTo>
                  <a:pt x="0" y="0"/>
                </a:moveTo>
                <a:lnTo>
                  <a:pt x="1349180" y="0"/>
                </a:lnTo>
                <a:lnTo>
                  <a:pt x="1349180" y="1475103"/>
                </a:lnTo>
                <a:lnTo>
                  <a:pt x="0" y="1475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3305745" y="359375"/>
            <a:ext cx="10218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6400" u="none" cap="none" strike="noStrike">
                <a:solidFill>
                  <a:srgbClr val="0000C0"/>
                </a:solidFill>
              </a:rPr>
              <a:t>PROJECT BACKGROUND</a:t>
            </a:r>
            <a:endParaRPr i="0" sz="6400" u="none" cap="none" strike="noStrike">
              <a:solidFill>
                <a:srgbClr val="000000"/>
              </a:solidFill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1371600" y="2120672"/>
            <a:ext cx="15316200" cy="48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685800" lvl="0" marL="685800" marR="0" rtl="0" algn="l">
              <a:lnSpc>
                <a:spcPct val="194416"/>
              </a:lnSpc>
              <a:spcBef>
                <a:spcPts val="0"/>
              </a:spcBef>
              <a:spcAft>
                <a:spcPts val="0"/>
              </a:spcAft>
              <a:buClr>
                <a:srgbClr val="5D5AA1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Notice of Funding Opportunity (NOFO), March 2019 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685800" marR="0" rtl="0" algn="l">
              <a:lnSpc>
                <a:spcPct val="194416"/>
              </a:lnSpc>
              <a:spcBef>
                <a:spcPts val="0"/>
              </a:spcBef>
              <a:spcAft>
                <a:spcPts val="0"/>
              </a:spcAft>
              <a:buClr>
                <a:srgbClr val="5D5AA1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Protect All Children from Trafficking</a:t>
            </a:r>
            <a:r>
              <a:rPr b="1" baseline="30000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TM</a:t>
            </a: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 (PACT, Formerly ECPAT-USA), May 2019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685800" marR="0" rtl="0" algn="l">
              <a:lnSpc>
                <a:spcPct val="194416"/>
              </a:lnSpc>
              <a:spcBef>
                <a:spcPts val="0"/>
              </a:spcBef>
              <a:spcAft>
                <a:spcPts val="0"/>
              </a:spcAft>
              <a:buClr>
                <a:srgbClr val="5D5AA1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PACT Notified January 2020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685800" marR="0" rtl="0" algn="l">
              <a:lnSpc>
                <a:spcPct val="194416"/>
              </a:lnSpc>
              <a:spcBef>
                <a:spcPts val="0"/>
              </a:spcBef>
              <a:spcAft>
                <a:spcPts val="0"/>
              </a:spcAft>
              <a:buClr>
                <a:srgbClr val="5D5AA1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Project Duration – July 2021 Through May 2025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0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/>
          <p:nvPr/>
        </p:nvSpPr>
        <p:spPr>
          <a:xfrm>
            <a:off x="16944571" y="8802372"/>
            <a:ext cx="1349180" cy="1475103"/>
          </a:xfrm>
          <a:custGeom>
            <a:rect b="b" l="l" r="r" t="t"/>
            <a:pathLst>
              <a:path extrusionOk="0" h="1475103" w="1349180">
                <a:moveTo>
                  <a:pt x="0" y="0"/>
                </a:moveTo>
                <a:lnTo>
                  <a:pt x="1349180" y="0"/>
                </a:lnTo>
                <a:lnTo>
                  <a:pt x="1349180" y="1475103"/>
                </a:lnTo>
                <a:lnTo>
                  <a:pt x="0" y="1475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5106919" y="404700"/>
            <a:ext cx="8505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6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OUR APPROACH</a:t>
            </a:r>
            <a:endParaRPr b="0" i="0" sz="6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990600" y="3041247"/>
            <a:ext cx="15572971" cy="43882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685800" lvl="0" marL="685800" marR="0" rtl="0" algn="l">
              <a:lnSpc>
                <a:spcPct val="194416"/>
              </a:lnSpc>
              <a:spcBef>
                <a:spcPts val="0"/>
              </a:spcBef>
              <a:spcAft>
                <a:spcPts val="0"/>
              </a:spcAft>
              <a:buClr>
                <a:srgbClr val="5D5AA1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Survivors-Informed Research-Based Social Media Campaign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685800" marR="0" rtl="0" algn="l">
              <a:lnSpc>
                <a:spcPct val="194416"/>
              </a:lnSpc>
              <a:spcBef>
                <a:spcPts val="0"/>
              </a:spcBef>
              <a:spcAft>
                <a:spcPts val="0"/>
              </a:spcAft>
              <a:buClr>
                <a:srgbClr val="5D5AA1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Six Transit Agencies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685800" marR="0" rtl="0" algn="l">
              <a:lnSpc>
                <a:spcPct val="194416"/>
              </a:lnSpc>
              <a:spcBef>
                <a:spcPts val="0"/>
              </a:spcBef>
              <a:spcAft>
                <a:spcPts val="0"/>
              </a:spcAft>
              <a:buClr>
                <a:srgbClr val="5D5AA1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Social Media Campaigns on Awareness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685800" marR="0" rtl="0" algn="l">
              <a:lnSpc>
                <a:spcPct val="194416"/>
              </a:lnSpc>
              <a:spcBef>
                <a:spcPts val="0"/>
              </a:spcBef>
              <a:spcAft>
                <a:spcPts val="0"/>
              </a:spcAft>
              <a:buClr>
                <a:srgbClr val="5D5AA1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Effectiveness of Survivor-Informed, Research-Based, Non-Traditional Anti-Trafficking Social Media Campaigns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0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16938820" y="8811897"/>
            <a:ext cx="1349180" cy="1475103"/>
          </a:xfrm>
          <a:custGeom>
            <a:rect b="b" l="l" r="r" t="t"/>
            <a:pathLst>
              <a:path extrusionOk="0" h="1475103" w="1349180">
                <a:moveTo>
                  <a:pt x="0" y="0"/>
                </a:moveTo>
                <a:lnTo>
                  <a:pt x="1349180" y="0"/>
                </a:lnTo>
                <a:lnTo>
                  <a:pt x="1349180" y="1475103"/>
                </a:lnTo>
                <a:lnTo>
                  <a:pt x="0" y="1475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14975059" y="652834"/>
            <a:ext cx="1963761" cy="1885210"/>
          </a:xfrm>
          <a:custGeom>
            <a:rect b="b" l="l" r="r" t="t"/>
            <a:pathLst>
              <a:path extrusionOk="0" h="1885210" w="1963761">
                <a:moveTo>
                  <a:pt x="0" y="0"/>
                </a:moveTo>
                <a:lnTo>
                  <a:pt x="1963761" y="0"/>
                </a:lnTo>
                <a:lnTo>
                  <a:pt x="1963761" y="1885210"/>
                </a:lnTo>
                <a:lnTo>
                  <a:pt x="0" y="18852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 txBox="1"/>
          <p:nvPr/>
        </p:nvSpPr>
        <p:spPr>
          <a:xfrm>
            <a:off x="348532" y="1807175"/>
            <a:ext cx="8931300" cy="79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1" marL="791844" marR="0" rtl="0" algn="l">
              <a:lnSpc>
                <a:spcPct val="12052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Lived-experience experts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334644" marR="0" rtl="0" algn="l">
              <a:lnSpc>
                <a:spcPct val="1205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791844" marR="0" rtl="0" algn="l">
              <a:lnSpc>
                <a:spcPct val="12052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Inform PACT’s programs, curricula, and public awareness efforts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334644" marR="0" rtl="0" algn="l">
              <a:lnSpc>
                <a:spcPct val="1205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791844" marR="0" rtl="0" algn="l">
              <a:lnSpc>
                <a:spcPct val="12052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Consult and provide subject matter expertise to PACT staff during program development and evaluation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334644" marR="0" rtl="0" algn="l">
              <a:lnSpc>
                <a:spcPct val="1205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791844" marR="0" rtl="0" algn="l">
              <a:lnSpc>
                <a:spcPct val="12052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Paid for their contributions in acknowledgment of the value that lived experience brings to our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1575474" y="346250"/>
            <a:ext cx="12523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6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PACT SURVIVORS’ COUNCIL</a:t>
            </a:r>
            <a:endParaRPr b="0" i="0" sz="6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9808421" y="3241993"/>
            <a:ext cx="8098579" cy="5350510"/>
          </a:xfrm>
          <a:custGeom>
            <a:rect b="b" l="l" r="r" t="t"/>
            <a:pathLst>
              <a:path extrusionOk="0" h="5350510" w="8098579">
                <a:moveTo>
                  <a:pt x="0" y="0"/>
                </a:moveTo>
                <a:lnTo>
                  <a:pt x="8098579" y="0"/>
                </a:lnTo>
                <a:lnTo>
                  <a:pt x="8098579" y="5350510"/>
                </a:lnTo>
                <a:lnTo>
                  <a:pt x="0" y="53505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-1351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0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/>
          <p:nvPr/>
        </p:nvSpPr>
        <p:spPr>
          <a:xfrm>
            <a:off x="16938820" y="8811897"/>
            <a:ext cx="1349180" cy="1475103"/>
          </a:xfrm>
          <a:custGeom>
            <a:rect b="b" l="l" r="r" t="t"/>
            <a:pathLst>
              <a:path extrusionOk="0" h="1475103" w="1349180">
                <a:moveTo>
                  <a:pt x="0" y="0"/>
                </a:moveTo>
                <a:lnTo>
                  <a:pt x="1349180" y="0"/>
                </a:lnTo>
                <a:lnTo>
                  <a:pt x="1349180" y="1475103"/>
                </a:lnTo>
                <a:lnTo>
                  <a:pt x="0" y="1475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 txBox="1"/>
          <p:nvPr/>
        </p:nvSpPr>
        <p:spPr>
          <a:xfrm>
            <a:off x="3756780" y="184035"/>
            <a:ext cx="13954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6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LITERATURE REVIEW</a:t>
            </a:r>
            <a:endParaRPr b="0" i="0" sz="6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1028700" y="1833950"/>
            <a:ext cx="15910200" cy="80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685800" lvl="0" marL="685800" marR="0" rtl="0" algn="l">
              <a:lnSpc>
                <a:spcPct val="194416"/>
              </a:lnSpc>
              <a:spcBef>
                <a:spcPts val="0"/>
              </a:spcBef>
              <a:spcAft>
                <a:spcPts val="0"/>
              </a:spcAft>
              <a:buClr>
                <a:srgbClr val="5D5AA1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260+ Pieces of Literature in Our 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685800" marR="0" rtl="0" algn="l">
              <a:lnSpc>
                <a:spcPct val="194416"/>
              </a:lnSpc>
              <a:spcBef>
                <a:spcPts val="0"/>
              </a:spcBef>
              <a:spcAft>
                <a:spcPts val="0"/>
              </a:spcAft>
              <a:buClr>
                <a:srgbClr val="5D5AA1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Categorized 245 Pieces of Literature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685800" marR="0" rtl="0" algn="l">
              <a:lnSpc>
                <a:spcPct val="194416"/>
              </a:lnSpc>
              <a:spcBef>
                <a:spcPts val="0"/>
              </a:spcBef>
              <a:spcAft>
                <a:spcPts val="0"/>
              </a:spcAft>
              <a:buClr>
                <a:srgbClr val="5D5AA1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210+ Pieces of Literature Specifically Addressed Trafficking, Child Trafficking, &amp; Trafficking on Transit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685800" marR="0" rtl="0" algn="l">
              <a:lnSpc>
                <a:spcPct val="194416"/>
              </a:lnSpc>
              <a:spcBef>
                <a:spcPts val="0"/>
              </a:spcBef>
              <a:spcAft>
                <a:spcPts val="0"/>
              </a:spcAft>
              <a:buClr>
                <a:srgbClr val="5D5AA1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123 Discussed Child Abuse, Child Trafficking, Child Predators or Related Topics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85800" lvl="0" marL="685800" marR="0" rtl="0" algn="l">
              <a:lnSpc>
                <a:spcPct val="194416"/>
              </a:lnSpc>
              <a:spcBef>
                <a:spcPts val="0"/>
              </a:spcBef>
              <a:spcAft>
                <a:spcPts val="0"/>
              </a:spcAft>
              <a:buClr>
                <a:srgbClr val="5D5AA1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Limited Academic Literature on the Role of Transportation in Combatting Human Trafficking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0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/>
          <p:nvPr/>
        </p:nvSpPr>
        <p:spPr>
          <a:xfrm>
            <a:off x="16938820" y="8811897"/>
            <a:ext cx="1349180" cy="1475103"/>
          </a:xfrm>
          <a:custGeom>
            <a:rect b="b" l="l" r="r" t="t"/>
            <a:pathLst>
              <a:path extrusionOk="0" h="1475103" w="1349180">
                <a:moveTo>
                  <a:pt x="0" y="0"/>
                </a:moveTo>
                <a:lnTo>
                  <a:pt x="1349180" y="0"/>
                </a:lnTo>
                <a:lnTo>
                  <a:pt x="1349180" y="1475103"/>
                </a:lnTo>
                <a:lnTo>
                  <a:pt x="0" y="1475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 txBox="1"/>
          <p:nvPr/>
        </p:nvSpPr>
        <p:spPr>
          <a:xfrm>
            <a:off x="587280" y="225500"/>
            <a:ext cx="167904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6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TRANSIT AGAINST CHILD TRAFFICKING (TACT) CAMPAIGN</a:t>
            </a:r>
            <a:endParaRPr b="0" i="0" sz="6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"/>
          <p:cNvSpPr txBox="1"/>
          <p:nvPr/>
        </p:nvSpPr>
        <p:spPr>
          <a:xfrm>
            <a:off x="587274" y="2553414"/>
            <a:ext cx="16176900" cy="78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Survivor-informed public awareness campaign deployed across six transit regions.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Multi-channel rollout: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Transit interiors/exteriors, shelters, station posters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TV, radio, and digital media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Social media packages for local partners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Agencies tailored visuals and messaging to local demographics and ridership patterns.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Achieved strong visibility: 18 media placements and widespread station/bus/train coverage.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0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/>
          <p:nvPr/>
        </p:nvSpPr>
        <p:spPr>
          <a:xfrm>
            <a:off x="16938820" y="8811897"/>
            <a:ext cx="1349180" cy="1475103"/>
          </a:xfrm>
          <a:custGeom>
            <a:rect b="b" l="l" r="r" t="t"/>
            <a:pathLst>
              <a:path extrusionOk="0" h="1475103" w="1349180">
                <a:moveTo>
                  <a:pt x="0" y="0"/>
                </a:moveTo>
                <a:lnTo>
                  <a:pt x="1349180" y="0"/>
                </a:lnTo>
                <a:lnTo>
                  <a:pt x="1349180" y="1475103"/>
                </a:lnTo>
                <a:lnTo>
                  <a:pt x="0" y="1475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748805" y="355250"/>
            <a:ext cx="167904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6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TRANSIT AGAINST CHILD TRAFFICKING (TACT) CAMPAIGN</a:t>
            </a:r>
            <a:endParaRPr b="0" i="0" sz="6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ue bench with a yellow sign&#10;&#10;AI-generated content may be incorrect." id="149" name="Google Shape;149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467100"/>
            <a:ext cx="4800600" cy="419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sign on a sidewalk&#10;&#10;AI-generated content may be incorrect." id="150" name="Google Shape;15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506201" y="3483609"/>
            <a:ext cx="5432619" cy="44030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door with a sign on it&#10;&#10;AI-generated content may be incorrect." id="151" name="Google Shape;151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94466" y="5791200"/>
            <a:ext cx="541020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0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 txBox="1"/>
          <p:nvPr/>
        </p:nvSpPr>
        <p:spPr>
          <a:xfrm>
            <a:off x="1464400" y="314075"/>
            <a:ext cx="14853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6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RESEARCH METHODOLOGY</a:t>
            </a:r>
            <a:endParaRPr b="0" i="0" sz="6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16938820" y="8811897"/>
            <a:ext cx="1349180" cy="1475103"/>
          </a:xfrm>
          <a:custGeom>
            <a:rect b="b" l="l" r="r" t="t"/>
            <a:pathLst>
              <a:path extrusionOk="0" h="1475103" w="1349180">
                <a:moveTo>
                  <a:pt x="0" y="0"/>
                </a:moveTo>
                <a:lnTo>
                  <a:pt x="1349180" y="0"/>
                </a:lnTo>
                <a:lnTo>
                  <a:pt x="1349180" y="1475103"/>
                </a:lnTo>
                <a:lnTo>
                  <a:pt x="0" y="1475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 txBox="1"/>
          <p:nvPr/>
        </p:nvSpPr>
        <p:spPr>
          <a:xfrm>
            <a:off x="609725" y="1695975"/>
            <a:ext cx="16016400" cy="7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AA1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Social Media Scraping (EDA):</a:t>
            </a:r>
            <a:endParaRPr b="0" i="0" sz="3600" u="none" cap="none" strike="noStrike">
              <a:solidFill>
                <a:srgbClr val="5D5AA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AA1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Collected 603,900 tweets using 260+ trafficking-related keywords/emojis.</a:t>
            </a:r>
            <a:endParaRPr b="0" i="0" sz="3600" u="none" cap="none" strike="noStrike">
              <a:solidFill>
                <a:srgbClr val="5D5AA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AA1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Classified content using multiple ML models.</a:t>
            </a:r>
            <a:endParaRPr b="0" i="0" sz="3600" u="none" cap="none" strike="noStrike">
              <a:solidFill>
                <a:srgbClr val="5D5AA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5D5AA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AA1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Quantitative Awareness Assessment (Pre/Post):</a:t>
            </a:r>
            <a:endParaRPr b="0" i="0" sz="3600" u="none" cap="none" strike="noStrike">
              <a:solidFill>
                <a:srgbClr val="5D5AA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AA1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Surveyed riders across six transit agencies.</a:t>
            </a:r>
            <a:endParaRPr b="0" i="0" sz="3600" u="none" cap="none" strike="noStrike">
              <a:solidFill>
                <a:srgbClr val="5D5AA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AA1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Measured knowledge, perceived safety, indicator recognition, and reporting readiness.</a:t>
            </a:r>
            <a:endParaRPr b="0" i="0" sz="3600" u="none" cap="none" strike="noStrike">
              <a:solidFill>
                <a:srgbClr val="5D5AA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5D5AA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AA1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Predictive Modeling:</a:t>
            </a:r>
            <a:endParaRPr b="0" i="0" sz="3600" u="none" cap="none" strike="noStrike">
              <a:solidFill>
                <a:srgbClr val="5D5AA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5AA1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Built spatial-temporal models using publicly available datasets to forecast likely trafficking-related risk locations.</a:t>
            </a:r>
            <a:endParaRPr b="0" i="0" sz="3600" u="none" cap="none" strike="noStrike">
              <a:solidFill>
                <a:srgbClr val="5D5AA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3600" u="none" cap="none" strike="noStrike">
              <a:solidFill>
                <a:srgbClr val="5D5AA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0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/>
          <p:nvPr/>
        </p:nvSpPr>
        <p:spPr>
          <a:xfrm>
            <a:off x="16938820" y="8811897"/>
            <a:ext cx="1349180" cy="1475103"/>
          </a:xfrm>
          <a:custGeom>
            <a:rect b="b" l="l" r="r" t="t"/>
            <a:pathLst>
              <a:path extrusionOk="0" h="1475103" w="1349180">
                <a:moveTo>
                  <a:pt x="0" y="0"/>
                </a:moveTo>
                <a:lnTo>
                  <a:pt x="1349180" y="0"/>
                </a:lnTo>
                <a:lnTo>
                  <a:pt x="1349180" y="1475103"/>
                </a:lnTo>
                <a:lnTo>
                  <a:pt x="0" y="1475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 txBox="1"/>
          <p:nvPr/>
        </p:nvSpPr>
        <p:spPr>
          <a:xfrm>
            <a:off x="1200675" y="383640"/>
            <a:ext cx="16306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6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Social Media Trends &amp; Patterns</a:t>
            </a:r>
            <a:endParaRPr b="0" i="0" sz="6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4"/>
          <p:cNvSpPr txBox="1"/>
          <p:nvPr/>
        </p:nvSpPr>
        <p:spPr>
          <a:xfrm>
            <a:off x="632025" y="1772560"/>
            <a:ext cx="16306800" cy="6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Pre-pandemic dominant terms: #nowplaying, escort, sugaring terms.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Post-pandemic dominant terms: #iheartawards, lolita, dateny/datela.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Analysis of 7 major sporting events showed: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Top hashtags: #massage, #escort, #gfe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Suspicious tweets: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■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+48% year-over-year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■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+43% increase during events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Combined keyword–location pairs revealed widespread use of #DateCity codes for escort promotion.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0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"/>
          <p:cNvSpPr/>
          <p:nvPr/>
        </p:nvSpPr>
        <p:spPr>
          <a:xfrm>
            <a:off x="16938820" y="8811897"/>
            <a:ext cx="1349180" cy="1475103"/>
          </a:xfrm>
          <a:custGeom>
            <a:rect b="b" l="l" r="r" t="t"/>
            <a:pathLst>
              <a:path extrusionOk="0" h="1475103" w="1349180">
                <a:moveTo>
                  <a:pt x="0" y="0"/>
                </a:moveTo>
                <a:lnTo>
                  <a:pt x="1349180" y="0"/>
                </a:lnTo>
                <a:lnTo>
                  <a:pt x="1349180" y="1475103"/>
                </a:lnTo>
                <a:lnTo>
                  <a:pt x="0" y="1475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 txBox="1"/>
          <p:nvPr/>
        </p:nvSpPr>
        <p:spPr>
          <a:xfrm>
            <a:off x="360490" y="342900"/>
            <a:ext cx="168987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6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EXAMPLE KEYWORDS &amp; HASHTAGS SCRAPED</a:t>
            </a:r>
            <a:endParaRPr b="0" i="0" sz="6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2" name="Google Shape;172;p11"/>
          <p:cNvGraphicFramePr/>
          <p:nvPr/>
        </p:nvGraphicFramePr>
        <p:xfrm>
          <a:off x="1828800" y="288543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{76CAB6DF-AA35-44FD-8625-A441F50053C8}</a:tableStyleId>
              </a:tblPr>
              <a:tblGrid>
                <a:gridCol w="3409950"/>
                <a:gridCol w="3409950"/>
                <a:gridCol w="3409950"/>
                <a:gridCol w="4400550"/>
              </a:tblGrid>
              <a:tr h="1017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Topic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Keyword, Hashtag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Definition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Primary Language (if known)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17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Child Sex Trafficking, Child Sexual Abuse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boylove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Indicates pedophile’s gender preference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English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761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Sugaring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PapiDulce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sugar daddy in Spanish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Spanish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176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Escort, Prostitution, Sex related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transpinay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Filipino trans woman sex worker/entertainer 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English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24217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Sex related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Caldo de pollo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Spanish. Translates to soup chicken, which means having sex, or having sex with an older woman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Spanish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0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"/>
          <p:cNvSpPr/>
          <p:nvPr/>
        </p:nvSpPr>
        <p:spPr>
          <a:xfrm>
            <a:off x="16938820" y="8811897"/>
            <a:ext cx="1349180" cy="1475103"/>
          </a:xfrm>
          <a:custGeom>
            <a:rect b="b" l="l" r="r" t="t"/>
            <a:pathLst>
              <a:path extrusionOk="0" h="1475103" w="1349180">
                <a:moveTo>
                  <a:pt x="0" y="0"/>
                </a:moveTo>
                <a:lnTo>
                  <a:pt x="1349180" y="0"/>
                </a:lnTo>
                <a:lnTo>
                  <a:pt x="1349180" y="1475103"/>
                </a:lnTo>
                <a:lnTo>
                  <a:pt x="0" y="1475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 txBox="1"/>
          <p:nvPr/>
        </p:nvSpPr>
        <p:spPr>
          <a:xfrm>
            <a:off x="1145050" y="383640"/>
            <a:ext cx="16306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6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Tweet Classification Results</a:t>
            </a:r>
            <a:endParaRPr b="0" i="0" sz="6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5"/>
          <p:cNvSpPr txBox="1"/>
          <p:nvPr/>
        </p:nvSpPr>
        <p:spPr>
          <a:xfrm>
            <a:off x="632025" y="1986350"/>
            <a:ext cx="16306800" cy="66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Tested: Baseline, Gaussian NB, Bernoulli NB, Logistic Regression, Random Forest.</a:t>
            </a:r>
            <a:endParaRPr b="1" i="0" sz="39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t/>
            </a:r>
            <a:endParaRPr b="1" i="0" sz="39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Best-performing model: Random Forest</a:t>
            </a:r>
            <a:endParaRPr b="1" i="0" sz="39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762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Accuracy: 0.966</a:t>
            </a:r>
            <a:endParaRPr b="1" i="0" sz="39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762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Precision: 0.956</a:t>
            </a:r>
            <a:endParaRPr b="1" i="0" sz="39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762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Recall: 0.912</a:t>
            </a:r>
            <a:endParaRPr b="1" i="0" sz="39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t/>
            </a:r>
            <a:endParaRPr b="1" i="0" sz="39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Demonstrates feasibility of automated detection of trafficking-related content at scale.</a:t>
            </a:r>
            <a:endParaRPr b="1" i="0" sz="39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0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/>
          <p:nvPr/>
        </p:nvSpPr>
        <p:spPr>
          <a:xfrm>
            <a:off x="16938820" y="8811897"/>
            <a:ext cx="1349180" cy="1475103"/>
          </a:xfrm>
          <a:custGeom>
            <a:rect b="b" l="l" r="r" t="t"/>
            <a:pathLst>
              <a:path extrusionOk="0" h="1475103" w="1349180">
                <a:moveTo>
                  <a:pt x="0" y="0"/>
                </a:moveTo>
                <a:lnTo>
                  <a:pt x="1349180" y="0"/>
                </a:lnTo>
                <a:lnTo>
                  <a:pt x="1349180" y="1475103"/>
                </a:lnTo>
                <a:lnTo>
                  <a:pt x="0" y="1475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2"/>
          <p:cNvSpPr txBox="1"/>
          <p:nvPr/>
        </p:nvSpPr>
        <p:spPr>
          <a:xfrm>
            <a:off x="1363047" y="233723"/>
            <a:ext cx="155619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6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EXAMPLE EMOJIS SCRAPED</a:t>
            </a:r>
            <a:endParaRPr b="0" i="0" sz="6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6" name="Google Shape;186;p12"/>
          <p:cNvGraphicFramePr/>
          <p:nvPr/>
        </p:nvGraphicFramePr>
        <p:xfrm>
          <a:off x="1349180" y="2247899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{76CAB6DF-AA35-44FD-8625-A441F50053C8}</a:tableStyleId>
              </a:tblPr>
              <a:tblGrid>
                <a:gridCol w="3834650"/>
                <a:gridCol w="3834650"/>
                <a:gridCol w="3834650"/>
                <a:gridCol w="3834650"/>
              </a:tblGrid>
              <a:tr h="896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Topic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Emoji(s)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Definition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Type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31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Child Sex Trafficking, Child Sexual Abuse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💗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Indicates someone is a minor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Emoji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31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Grooming or Loneliness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🥀💔🔪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loss of loved one, depression or self-harm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Emoji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2706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 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Child Sex Trafficking, Child Sexual Abuse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🌹🎥💗✈️👑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translates to “Pay money to record having sex with an underage person who is being trafficked by a pimp”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Emoji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131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Child Sex Trafficking, Child Sexual Abuse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🔞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Under 18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Emoji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0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"/>
          <p:cNvSpPr/>
          <p:nvPr/>
        </p:nvSpPr>
        <p:spPr>
          <a:xfrm>
            <a:off x="16938820" y="8811897"/>
            <a:ext cx="1349180" cy="1475103"/>
          </a:xfrm>
          <a:custGeom>
            <a:rect b="b" l="l" r="r" t="t"/>
            <a:pathLst>
              <a:path extrusionOk="0" h="1475103" w="1349180">
                <a:moveTo>
                  <a:pt x="0" y="0"/>
                </a:moveTo>
                <a:lnTo>
                  <a:pt x="1349180" y="0"/>
                </a:lnTo>
                <a:lnTo>
                  <a:pt x="1349180" y="1475103"/>
                </a:lnTo>
                <a:lnTo>
                  <a:pt x="0" y="1475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 txBox="1"/>
          <p:nvPr/>
        </p:nvSpPr>
        <p:spPr>
          <a:xfrm>
            <a:off x="1377022" y="493223"/>
            <a:ext cx="155619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6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FOUR METHODS OF DATA TWEET CLASSIFICATION &amp; RESULTS</a:t>
            </a:r>
            <a:endParaRPr b="0" i="0" sz="6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93" name="Google Shape;193;p13"/>
          <p:cNvGraphicFramePr/>
          <p:nvPr/>
        </p:nvGraphicFramePr>
        <p:xfrm>
          <a:off x="1219200" y="300990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{76CAB6DF-AA35-44FD-8625-A441F50053C8}</a:tableStyleId>
              </a:tblPr>
              <a:tblGrid>
                <a:gridCol w="6932525"/>
                <a:gridCol w="1828350"/>
                <a:gridCol w="1645350"/>
                <a:gridCol w="1392375"/>
                <a:gridCol w="3517600"/>
              </a:tblGrid>
              <a:tr h="1749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475" marB="66325" marR="9475" marL="94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475" marB="66325" marR="9475" marL="94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Precision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475" marB="66325" marR="9475" marL="94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Recall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475" marB="66325" marR="9475" marL="94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 Score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475" marB="66325" marR="9475" marL="9475" anchor="b"/>
                </a:tc>
              </a:tr>
              <a:tr h="1306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Baseline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475" marB="66325" marR="9475" marL="94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0.743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475" marB="66325" marR="9475" marL="94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1.00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475" marB="66325" marR="9475" marL="94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0.743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475" marB="66325" marR="9475" marL="94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0.852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475" marB="66325" marR="9475" marL="9475" anchor="b"/>
                </a:tc>
              </a:tr>
              <a:tr h="93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Naïve Bayes - Gaussian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475" marB="66325" marR="9475" marL="94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0.949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475" marB="66325" marR="9475" marL="94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0.977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475" marB="66325" marR="9475" marL="94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0.816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475" marB="66325" marR="9475" marL="94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0.889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475" marB="66325" marR="9475" marL="9475" anchor="b"/>
                </a:tc>
              </a:tr>
              <a:tr h="93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Naïve Bayes - Bernoulli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475" marB="66325" marR="9475" marL="94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0.948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475" marB="66325" marR="9475" marL="94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0.917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475" marB="66325" marR="9475" marL="94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0.881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475" marB="66325" marR="9475" marL="94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0.898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475" marB="66325" marR="9475" marL="9475" anchor="b"/>
                </a:tc>
              </a:tr>
              <a:tr h="93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Logistic Regression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475" marB="66325" marR="9475" marL="94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0.96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475" marB="66325" marR="9475" marL="94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0.956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475" marB="66325" marR="9475" marL="94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0.884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475" marB="66325" marR="9475" marL="94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0.919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475" marB="66325" marR="9475" marL="9475" anchor="b"/>
                </a:tc>
              </a:tr>
              <a:tr h="93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Random Forest Regression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475" marB="66325" marR="9475" marL="94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0.966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475" marB="66325" marR="9475" marL="94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0.956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475" marB="66325" marR="9475" marL="94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0.912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475" marB="66325" marR="9475" marL="94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0.934</a:t>
                      </a:r>
                      <a:endParaRPr sz="2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475" marB="66325" marR="9475" marL="947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0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"/>
          <p:cNvSpPr/>
          <p:nvPr/>
        </p:nvSpPr>
        <p:spPr>
          <a:xfrm>
            <a:off x="16938820" y="8811897"/>
            <a:ext cx="1349180" cy="1475103"/>
          </a:xfrm>
          <a:custGeom>
            <a:rect b="b" l="l" r="r" t="t"/>
            <a:pathLst>
              <a:path extrusionOk="0" h="1475103" w="1349180">
                <a:moveTo>
                  <a:pt x="0" y="0"/>
                </a:moveTo>
                <a:lnTo>
                  <a:pt x="1349180" y="0"/>
                </a:lnTo>
                <a:lnTo>
                  <a:pt x="1349180" y="1475103"/>
                </a:lnTo>
                <a:lnTo>
                  <a:pt x="0" y="1475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1219200" y="495300"/>
            <a:ext cx="163068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6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FURTHER SOCIAL MEDIA DATA SCRAPING RESULTS</a:t>
            </a:r>
            <a:endParaRPr b="0" i="0" sz="6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map of the united states with red dots&#10;&#10;AI-generated content may be incorrect." id="200" name="Google Shape;20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2800" y="2879824"/>
            <a:ext cx="12192000" cy="6911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0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"/>
          <p:cNvSpPr/>
          <p:nvPr/>
        </p:nvSpPr>
        <p:spPr>
          <a:xfrm>
            <a:off x="16938820" y="8811897"/>
            <a:ext cx="1349180" cy="1475103"/>
          </a:xfrm>
          <a:custGeom>
            <a:rect b="b" l="l" r="r" t="t"/>
            <a:pathLst>
              <a:path extrusionOk="0" h="1475103" w="1349180">
                <a:moveTo>
                  <a:pt x="0" y="0"/>
                </a:moveTo>
                <a:lnTo>
                  <a:pt x="1349180" y="0"/>
                </a:lnTo>
                <a:lnTo>
                  <a:pt x="1349180" y="1475103"/>
                </a:lnTo>
                <a:lnTo>
                  <a:pt x="0" y="1475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1145050" y="268315"/>
            <a:ext cx="16306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6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PUBLICLY AVAILABLE DATA ANALYSES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895875" y="1438539"/>
            <a:ext cx="15392400" cy="78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Integrated multiple publicly available datasets previously linked to trafficking-related activity: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Crime data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Socioeconomic indicators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Health indicators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Objective: Identify locations where multiple risk factors overlap, signaling potential hotspots or sourcing areas.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Key statistical findings (national-level):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Poverty and trafficking strongly correlated (p &lt; 0.05)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STI rates significantly correlated (p &lt; 0.05)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Mental illness rates not statistically significant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0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/>
          <p:nvPr/>
        </p:nvSpPr>
        <p:spPr>
          <a:xfrm>
            <a:off x="16938820" y="8811897"/>
            <a:ext cx="1349180" cy="1475103"/>
          </a:xfrm>
          <a:custGeom>
            <a:rect b="b" l="l" r="r" t="t"/>
            <a:pathLst>
              <a:path extrusionOk="0" h="1475103" w="1349180">
                <a:moveTo>
                  <a:pt x="0" y="0"/>
                </a:moveTo>
                <a:lnTo>
                  <a:pt x="1349180" y="0"/>
                </a:lnTo>
                <a:lnTo>
                  <a:pt x="1349180" y="1475103"/>
                </a:lnTo>
                <a:lnTo>
                  <a:pt x="0" y="1475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148125" y="0"/>
            <a:ext cx="18139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6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Pre/Post Assessment Findings: Key</a:t>
            </a:r>
            <a:r>
              <a:rPr b="1" lang="en-US" sz="6400">
                <a:solidFill>
                  <a:srgbClr val="0000C0"/>
                </a:solidFill>
              </a:rPr>
              <a:t> </a:t>
            </a:r>
            <a:r>
              <a:rPr b="1" i="0" lang="en-US" sz="6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Outcomes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148125" y="1512975"/>
            <a:ext cx="16790700" cy="84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Pre/Post Awareness Assessment conducted across six U.S. transit agencies: CDTA (Albany, NY), DASH (Alexandria, VA), CapMetro (Austin, TX), CTA (Chicago, IL), TriMet (Portland, OR), Rio Metro (Albuquerque/Santa Fe, NM)</a:t>
            </a:r>
            <a:endParaRPr b="1" i="0" sz="40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Strong recall of TACT materials via TV, transit ads, and station signage.</a:t>
            </a:r>
            <a:endParaRPr b="1" i="0" sz="40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Portland &amp; Alexandria showed improved indicator recognition.</a:t>
            </a:r>
            <a:endParaRPr b="1" i="0" sz="40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Many agencies reported declining perceived crime, suggesting increased feelings of safety.</a:t>
            </a:r>
            <a:endParaRPr b="1" i="0" sz="40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Digital channel visibility decreased across most systems.</a:t>
            </a:r>
            <a:endParaRPr b="1" i="0" sz="40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0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/>
          <p:nvPr/>
        </p:nvSpPr>
        <p:spPr>
          <a:xfrm>
            <a:off x="16938820" y="8811897"/>
            <a:ext cx="1349180" cy="1475103"/>
          </a:xfrm>
          <a:custGeom>
            <a:rect b="b" l="l" r="r" t="t"/>
            <a:pathLst>
              <a:path extrusionOk="0" h="1475103" w="1349180">
                <a:moveTo>
                  <a:pt x="0" y="0"/>
                </a:moveTo>
                <a:lnTo>
                  <a:pt x="1349180" y="0"/>
                </a:lnTo>
                <a:lnTo>
                  <a:pt x="1349180" y="1475103"/>
                </a:lnTo>
                <a:lnTo>
                  <a:pt x="0" y="1475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0" y="0"/>
            <a:ext cx="182880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6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Areas Requiring Improvement :Awareness Gaps Identified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640475" y="2340575"/>
            <a:ext cx="15087600" cy="82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Recognition of vulnerable populations declined in several systems.</a:t>
            </a:r>
            <a:endParaRPr b="1" i="0" sz="39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t/>
            </a:r>
            <a:endParaRPr b="1" i="0" sz="39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Reduced perceived urgency of trafficking issues in the After-phase.</a:t>
            </a:r>
            <a:endParaRPr b="1" i="0" sz="39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t/>
            </a:r>
            <a:endParaRPr b="1" i="0" sz="39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Limited improvements in indicator recognition across most cities.</a:t>
            </a:r>
            <a:endParaRPr b="1" i="0" sz="39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t/>
            </a:r>
            <a:endParaRPr b="1" i="0" sz="39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Significant decline in knowledge of correct reporting actions in Chicago &amp; Albuquerque/Santa Fe.</a:t>
            </a:r>
            <a:endParaRPr b="1" i="0" sz="39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t/>
            </a:r>
            <a:endParaRPr b="1" i="0" sz="39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After-phase respondents skewed older/higher-income, influencing overall results.</a:t>
            </a:r>
            <a:endParaRPr b="1" i="0" sz="39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0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"/>
          <p:cNvSpPr/>
          <p:nvPr/>
        </p:nvSpPr>
        <p:spPr>
          <a:xfrm>
            <a:off x="16938820" y="8811897"/>
            <a:ext cx="1349180" cy="1475103"/>
          </a:xfrm>
          <a:custGeom>
            <a:rect b="b" l="l" r="r" t="t"/>
            <a:pathLst>
              <a:path extrusionOk="0" h="1475103" w="1349180">
                <a:moveTo>
                  <a:pt x="0" y="0"/>
                </a:moveTo>
                <a:lnTo>
                  <a:pt x="1349180" y="0"/>
                </a:lnTo>
                <a:lnTo>
                  <a:pt x="1349180" y="1475103"/>
                </a:lnTo>
                <a:lnTo>
                  <a:pt x="0" y="1475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7"/>
          <p:cNvSpPr txBox="1"/>
          <p:nvPr/>
        </p:nvSpPr>
        <p:spPr>
          <a:xfrm>
            <a:off x="1219200" y="729615"/>
            <a:ext cx="16306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6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PREDICTIVE MODELING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7"/>
          <p:cNvSpPr txBox="1"/>
          <p:nvPr/>
        </p:nvSpPr>
        <p:spPr>
          <a:xfrm>
            <a:off x="1066800" y="2157591"/>
            <a:ext cx="164592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Modeled where &amp; when child sex trafficking–related activity is most likely to occur near public transit.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Integrated publicly available data: crime incidents, hotels/businesses, transit stops, events, neighborhood indicators.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Tested multiple supervised + unsupervised frameworks to identify spatial and temporal hotspots.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0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"/>
          <p:cNvSpPr/>
          <p:nvPr/>
        </p:nvSpPr>
        <p:spPr>
          <a:xfrm>
            <a:off x="16938820" y="8811897"/>
            <a:ext cx="1349180" cy="1475103"/>
          </a:xfrm>
          <a:custGeom>
            <a:rect b="b" l="l" r="r" t="t"/>
            <a:pathLst>
              <a:path extrusionOk="0" h="1475103" w="1349180">
                <a:moveTo>
                  <a:pt x="0" y="0"/>
                </a:moveTo>
                <a:lnTo>
                  <a:pt x="1349180" y="0"/>
                </a:lnTo>
                <a:lnTo>
                  <a:pt x="1349180" y="1475103"/>
                </a:lnTo>
                <a:lnTo>
                  <a:pt x="0" y="1475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8"/>
          <p:cNvSpPr txBox="1"/>
          <p:nvPr/>
        </p:nvSpPr>
        <p:spPr>
          <a:xfrm>
            <a:off x="1219200" y="266700"/>
            <a:ext cx="16306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6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Chicago (CTA): Data &amp; Modeling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8"/>
          <p:cNvSpPr txBox="1"/>
          <p:nvPr/>
        </p:nvSpPr>
        <p:spPr>
          <a:xfrm>
            <a:off x="1066800" y="1714500"/>
            <a:ext cx="15240000" cy="5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Data: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8M+ crime records (2001–present) → filtered to 5K trafficking-related cases.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Census + business listings within 0.5 miles of Cicero Avenue.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Models tested: RF, SVM, XGBoost, Logistic Regression, Neural Network.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Features: Lat, Long, Year, Month, Day, Hour.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48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0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9"/>
          <p:cNvSpPr/>
          <p:nvPr/>
        </p:nvSpPr>
        <p:spPr>
          <a:xfrm>
            <a:off x="16938820" y="8811897"/>
            <a:ext cx="1349180" cy="1475103"/>
          </a:xfrm>
          <a:custGeom>
            <a:rect b="b" l="l" r="r" t="t"/>
            <a:pathLst>
              <a:path extrusionOk="0" h="1475103" w="1349180">
                <a:moveTo>
                  <a:pt x="0" y="0"/>
                </a:moveTo>
                <a:lnTo>
                  <a:pt x="1349180" y="0"/>
                </a:lnTo>
                <a:lnTo>
                  <a:pt x="1349180" y="1475103"/>
                </a:lnTo>
                <a:lnTo>
                  <a:pt x="0" y="1475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9"/>
          <p:cNvSpPr txBox="1"/>
          <p:nvPr/>
        </p:nvSpPr>
        <p:spPr>
          <a:xfrm>
            <a:off x="1219200" y="266700"/>
            <a:ext cx="16306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6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Chicago (CTA): Key Findings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9"/>
          <p:cNvSpPr txBox="1"/>
          <p:nvPr/>
        </p:nvSpPr>
        <p:spPr>
          <a:xfrm>
            <a:off x="1066800" y="1333500"/>
            <a:ext cx="15240000" cy="89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Neural Network highest accuracy (68.5%) &amp; lowest error (MSE = 1.29).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Clear route-specific clusters near: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Pulaski &amp; 46th Street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Cicero &amp; 72nd Street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Peak risk windows: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8–9 AM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Early August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6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Indicates consistent spatial-temporal patterns suitable for targeted interventions.</a:t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48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48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0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0"/>
          <p:cNvSpPr/>
          <p:nvPr/>
        </p:nvSpPr>
        <p:spPr>
          <a:xfrm>
            <a:off x="16938820" y="8811897"/>
            <a:ext cx="1349180" cy="1475103"/>
          </a:xfrm>
          <a:custGeom>
            <a:rect b="b" l="l" r="r" t="t"/>
            <a:pathLst>
              <a:path extrusionOk="0" h="1475103" w="1349180">
                <a:moveTo>
                  <a:pt x="0" y="0"/>
                </a:moveTo>
                <a:lnTo>
                  <a:pt x="1349180" y="0"/>
                </a:lnTo>
                <a:lnTo>
                  <a:pt x="1349180" y="1475103"/>
                </a:lnTo>
                <a:lnTo>
                  <a:pt x="0" y="1475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0"/>
          <p:cNvSpPr txBox="1"/>
          <p:nvPr/>
        </p:nvSpPr>
        <p:spPr>
          <a:xfrm>
            <a:off x="1219200" y="266700"/>
            <a:ext cx="16306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6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Chicago (CTA): Implications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0"/>
          <p:cNvSpPr txBox="1"/>
          <p:nvPr/>
        </p:nvSpPr>
        <p:spPr>
          <a:xfrm>
            <a:off x="834100" y="1818750"/>
            <a:ext cx="13752900" cy="66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Calibri"/>
              <a:buChar char="●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Data reveals stable, repeated hotspots along specific corridors.</a:t>
            </a:r>
            <a:endParaRPr b="1" i="0" sz="42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42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Calibri"/>
              <a:buChar char="●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Can inform:</a:t>
            </a:r>
            <a:endParaRPr b="1" i="0" sz="42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95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Calibri"/>
              <a:buChar char="○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Operator alerts during peak hours</a:t>
            </a:r>
            <a:endParaRPr b="1" i="0" sz="42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95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Calibri"/>
              <a:buChar char="○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Focused patrols</a:t>
            </a:r>
            <a:endParaRPr b="1" i="0" sz="42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95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Calibri"/>
              <a:buChar char="○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Placement of awareness materials</a:t>
            </a:r>
            <a:endParaRPr b="1" i="0" sz="42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42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Calibri"/>
              <a:buChar char="●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Future work: include additional businesses (massage parlors, entertainment hubs) to improve risk correlation.</a:t>
            </a:r>
            <a:endParaRPr b="1" i="0" sz="42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0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1"/>
          <p:cNvSpPr/>
          <p:nvPr/>
        </p:nvSpPr>
        <p:spPr>
          <a:xfrm>
            <a:off x="16938820" y="8811897"/>
            <a:ext cx="1349180" cy="1475103"/>
          </a:xfrm>
          <a:custGeom>
            <a:rect b="b" l="l" r="r" t="t"/>
            <a:pathLst>
              <a:path extrusionOk="0" h="1475103" w="1349180">
                <a:moveTo>
                  <a:pt x="0" y="0"/>
                </a:moveTo>
                <a:lnTo>
                  <a:pt x="1349180" y="0"/>
                </a:lnTo>
                <a:lnTo>
                  <a:pt x="1349180" y="1475103"/>
                </a:lnTo>
                <a:lnTo>
                  <a:pt x="0" y="1475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1"/>
          <p:cNvSpPr txBox="1"/>
          <p:nvPr/>
        </p:nvSpPr>
        <p:spPr>
          <a:xfrm>
            <a:off x="1219125" y="211075"/>
            <a:ext cx="16306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6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Portland (TriMet): Data &amp; Objectives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1"/>
          <p:cNvSpPr txBox="1"/>
          <p:nvPr/>
        </p:nvSpPr>
        <p:spPr>
          <a:xfrm>
            <a:off x="1066800" y="1333500"/>
            <a:ext cx="152400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48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1"/>
          <p:cNvSpPr txBox="1"/>
          <p:nvPr/>
        </p:nvSpPr>
        <p:spPr>
          <a:xfrm>
            <a:off x="632025" y="1666400"/>
            <a:ext cx="16893900" cy="6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Data: Crime records, hotels, TriMet stops, park-and-ride, massage parlor listings.</a:t>
            </a:r>
            <a:endParaRPr b="1" i="0" sz="42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45,130 filtered trafficking-relevant offenses.</a:t>
            </a:r>
            <a:endParaRPr b="1" i="0" sz="42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t/>
            </a:r>
            <a:endParaRPr b="1" i="0" sz="42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Objectives:</a:t>
            </a:r>
            <a:endParaRPr b="1" i="0" sz="42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95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Predict high-risk locations/times</a:t>
            </a:r>
            <a:endParaRPr b="1" i="0" sz="42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95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Cluster neighborhoods</a:t>
            </a:r>
            <a:endParaRPr b="1" i="0" sz="42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95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Link spatial factors with crime patterns</a:t>
            </a:r>
            <a:endParaRPr b="1" i="0" sz="42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95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Provide actionable transit-focused insights</a:t>
            </a:r>
            <a:endParaRPr b="1" i="0" sz="42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0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2"/>
          <p:cNvSpPr/>
          <p:nvPr/>
        </p:nvSpPr>
        <p:spPr>
          <a:xfrm>
            <a:off x="16938820" y="8811897"/>
            <a:ext cx="1349180" cy="1475103"/>
          </a:xfrm>
          <a:custGeom>
            <a:rect b="b" l="l" r="r" t="t"/>
            <a:pathLst>
              <a:path extrusionOk="0" h="1475103" w="1349180">
                <a:moveTo>
                  <a:pt x="0" y="0"/>
                </a:moveTo>
                <a:lnTo>
                  <a:pt x="1349180" y="0"/>
                </a:lnTo>
                <a:lnTo>
                  <a:pt x="1349180" y="1475103"/>
                </a:lnTo>
                <a:lnTo>
                  <a:pt x="0" y="1475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2"/>
          <p:cNvSpPr txBox="1"/>
          <p:nvPr/>
        </p:nvSpPr>
        <p:spPr>
          <a:xfrm>
            <a:off x="1089475" y="336265"/>
            <a:ext cx="16306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6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Portland (TriMet): Model &amp; EDA Insights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2"/>
          <p:cNvSpPr txBox="1"/>
          <p:nvPr/>
        </p:nvSpPr>
        <p:spPr>
          <a:xfrm>
            <a:off x="557870" y="1495508"/>
            <a:ext cx="15674700" cy="82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3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Random Forest classifier achieved 74.7% accuracy using:</a:t>
            </a:r>
            <a:endParaRPr b="1" i="0" sz="43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1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3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Latitude, Longitude</a:t>
            </a:r>
            <a:endParaRPr b="1" i="0" sz="43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1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3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Neighborhood</a:t>
            </a:r>
            <a:endParaRPr b="1" i="0" sz="43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1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3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Month/Year</a:t>
            </a:r>
            <a:endParaRPr b="1" i="0" sz="43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t/>
            </a:r>
            <a:endParaRPr b="1" i="0" sz="43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3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Key insights:</a:t>
            </a:r>
            <a:endParaRPr b="1" i="0" sz="43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1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3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Spatial dependency strongest predictor</a:t>
            </a:r>
            <a:endParaRPr b="1" i="0" sz="43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1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3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Neighborhood context influences risk</a:t>
            </a:r>
            <a:endParaRPr b="1" i="0" sz="43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16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3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Seasonal variations evident (month significant)</a:t>
            </a:r>
            <a:endParaRPr b="1" i="0" sz="43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t/>
            </a:r>
            <a:endParaRPr b="1" i="0" sz="43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3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Minority classes challenging due to data imbalance.</a:t>
            </a:r>
            <a:endParaRPr b="1" i="0" sz="43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0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3"/>
          <p:cNvSpPr/>
          <p:nvPr/>
        </p:nvSpPr>
        <p:spPr>
          <a:xfrm>
            <a:off x="16938820" y="8811897"/>
            <a:ext cx="1349180" cy="1475103"/>
          </a:xfrm>
          <a:custGeom>
            <a:rect b="b" l="l" r="r" t="t"/>
            <a:pathLst>
              <a:path extrusionOk="0" h="1475103" w="1349180">
                <a:moveTo>
                  <a:pt x="0" y="0"/>
                </a:moveTo>
                <a:lnTo>
                  <a:pt x="1349180" y="0"/>
                </a:lnTo>
                <a:lnTo>
                  <a:pt x="1349180" y="1475103"/>
                </a:lnTo>
                <a:lnTo>
                  <a:pt x="0" y="1475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3"/>
          <p:cNvSpPr txBox="1"/>
          <p:nvPr/>
        </p:nvSpPr>
        <p:spPr>
          <a:xfrm>
            <a:off x="1219200" y="424815"/>
            <a:ext cx="16306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6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Portland (TriMet): Hotspots &amp; Events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3"/>
          <p:cNvSpPr txBox="1"/>
          <p:nvPr/>
        </p:nvSpPr>
        <p:spPr>
          <a:xfrm>
            <a:off x="1066800" y="1333500"/>
            <a:ext cx="152400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2" marL="1485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3"/>
          <p:cNvSpPr txBox="1"/>
          <p:nvPr/>
        </p:nvSpPr>
        <p:spPr>
          <a:xfrm>
            <a:off x="632020" y="1742599"/>
            <a:ext cx="16306800" cy="6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K-Means clustering: 10 neighborhood clusters with similar spatial crime profiles.</a:t>
            </a:r>
            <a:endParaRPr b="1" i="0" sz="40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Crime concentrated within 0.5 km of 6 major TriMet transit centers (~5,200 cases).</a:t>
            </a:r>
            <a:endParaRPr b="1" i="0" sz="40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Event-driven spikes:</a:t>
            </a:r>
            <a:endParaRPr b="1" i="0" sz="40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82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Festivals (Jazz Festival, Rose Festival, Blues Festival, Winter Light Festival, etc.)</a:t>
            </a:r>
            <a:endParaRPr b="1" i="0" sz="40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82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Event periods show up to 100x higher daily offenses vs non-event days.</a:t>
            </a:r>
            <a:endParaRPr b="1" i="0" sz="40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Indicates short-term surges layered over long-term hotspots.</a:t>
            </a:r>
            <a:endParaRPr b="1" i="0" sz="40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0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4"/>
          <p:cNvSpPr/>
          <p:nvPr/>
        </p:nvSpPr>
        <p:spPr>
          <a:xfrm>
            <a:off x="16938820" y="8811897"/>
            <a:ext cx="1349180" cy="1475103"/>
          </a:xfrm>
          <a:custGeom>
            <a:rect b="b" l="l" r="r" t="t"/>
            <a:pathLst>
              <a:path extrusionOk="0" h="1475103" w="1349180">
                <a:moveTo>
                  <a:pt x="0" y="0"/>
                </a:moveTo>
                <a:lnTo>
                  <a:pt x="1349180" y="0"/>
                </a:lnTo>
                <a:lnTo>
                  <a:pt x="1349180" y="1475103"/>
                </a:lnTo>
                <a:lnTo>
                  <a:pt x="0" y="1475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4"/>
          <p:cNvSpPr txBox="1"/>
          <p:nvPr/>
        </p:nvSpPr>
        <p:spPr>
          <a:xfrm>
            <a:off x="1163600" y="358915"/>
            <a:ext cx="16306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6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Cross-City Comparative Takeaways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4"/>
          <p:cNvSpPr txBox="1"/>
          <p:nvPr/>
        </p:nvSpPr>
        <p:spPr>
          <a:xfrm>
            <a:off x="632020" y="2019300"/>
            <a:ext cx="16306800" cy="66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Both cities show clear spatial clustering near high-volume transit corridors.</a:t>
            </a:r>
            <a:endParaRPr b="1" i="0" sz="39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t/>
            </a:r>
            <a:endParaRPr b="1" i="0" sz="39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Chicago: Strong temporal regularity (peak hours + seasonal).</a:t>
            </a:r>
            <a:endParaRPr b="1" i="0" sz="39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t/>
            </a:r>
            <a:endParaRPr b="1" i="0" sz="39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Portland: Strong event-driven surges + persistent downtown hotspots.</a:t>
            </a:r>
            <a:endParaRPr b="1" i="0" sz="39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"/>
              <a:buFont typeface="Arial"/>
              <a:buNone/>
            </a:pPr>
            <a:r>
              <a:t/>
            </a:r>
            <a:endParaRPr b="1" i="0" sz="39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Predictive models demonstrate:</a:t>
            </a:r>
            <a:endParaRPr b="1" i="0" sz="39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762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Public data can anticipate trafficking risk, not just describe it.</a:t>
            </a:r>
            <a:endParaRPr b="1" i="0" sz="39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762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9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Transit agencies can adapt operator training, resource allocation, and awareness placement accordingly.</a:t>
            </a:r>
            <a:endParaRPr b="1" i="0" sz="39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0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7"/>
          <p:cNvSpPr/>
          <p:nvPr/>
        </p:nvSpPr>
        <p:spPr>
          <a:xfrm>
            <a:off x="16938820" y="8811897"/>
            <a:ext cx="1349180" cy="1475103"/>
          </a:xfrm>
          <a:custGeom>
            <a:rect b="b" l="l" r="r" t="t"/>
            <a:pathLst>
              <a:path extrusionOk="0" h="1475103" w="1349180">
                <a:moveTo>
                  <a:pt x="0" y="0"/>
                </a:moveTo>
                <a:lnTo>
                  <a:pt x="1349180" y="0"/>
                </a:lnTo>
                <a:lnTo>
                  <a:pt x="1349180" y="1475103"/>
                </a:lnTo>
                <a:lnTo>
                  <a:pt x="0" y="1475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47"/>
          <p:cNvSpPr txBox="1"/>
          <p:nvPr/>
        </p:nvSpPr>
        <p:spPr>
          <a:xfrm>
            <a:off x="0" y="184325"/>
            <a:ext cx="181830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6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Integrated Conclusions:What the Study Demonstrates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7"/>
          <p:cNvSpPr txBox="1"/>
          <p:nvPr/>
        </p:nvSpPr>
        <p:spPr>
          <a:xfrm>
            <a:off x="904100" y="2154430"/>
            <a:ext cx="15719700" cy="82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44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A survivor-informed awareness campaign, paired with rigorous statistical evaluation and predictive analytics, can improve public understanding of human trafficking on transit systems.</a:t>
            </a:r>
            <a:endParaRPr b="1" i="0" sz="34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1" i="0" sz="34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The Awareness Assessment Tool captured rider perceptions, recognition of indicators, and readiness to act.</a:t>
            </a:r>
            <a:endParaRPr b="1" i="0" sz="34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1" i="0" sz="34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Predictive models revealed consistent spatial and temporal risk structures that can guide campaign placement and operator preparedness.</a:t>
            </a:r>
            <a:endParaRPr b="1" i="0" sz="34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1" i="0" sz="34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Together, these approaches provide a multi-dimensional view of trafficking risk—linking public perception with environmental and temporal patterns.</a:t>
            </a:r>
            <a:endParaRPr b="1" i="0" sz="34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1" i="0" sz="34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0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8"/>
          <p:cNvSpPr/>
          <p:nvPr/>
        </p:nvSpPr>
        <p:spPr>
          <a:xfrm>
            <a:off x="16938820" y="8811897"/>
            <a:ext cx="1349180" cy="1475103"/>
          </a:xfrm>
          <a:custGeom>
            <a:rect b="b" l="l" r="r" t="t"/>
            <a:pathLst>
              <a:path extrusionOk="0" h="1475103" w="1349180">
                <a:moveTo>
                  <a:pt x="0" y="0"/>
                </a:moveTo>
                <a:lnTo>
                  <a:pt x="1349180" y="0"/>
                </a:lnTo>
                <a:lnTo>
                  <a:pt x="1349180" y="1475103"/>
                </a:lnTo>
                <a:lnTo>
                  <a:pt x="0" y="1475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48"/>
          <p:cNvSpPr txBox="1"/>
          <p:nvPr/>
        </p:nvSpPr>
        <p:spPr>
          <a:xfrm>
            <a:off x="990600" y="351150"/>
            <a:ext cx="16306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6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Key Implications for Transit Agencies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8"/>
          <p:cNvSpPr txBox="1"/>
          <p:nvPr/>
        </p:nvSpPr>
        <p:spPr>
          <a:xfrm>
            <a:off x="1219200" y="1830705"/>
            <a:ext cx="15719700" cy="7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44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Multimodal campaigns (digital, print, vehicle ads, stations) produce stronger retention than single-channel messaging.</a:t>
            </a:r>
            <a:endParaRPr b="1" i="0" sz="34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Localized tailoring to each city’s demographics and ridership improves engagement and message relevance.</a:t>
            </a:r>
            <a:endParaRPr b="1" i="0" sz="34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1" i="0" sz="34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Predictive spatial-temporal models can guide:</a:t>
            </a:r>
            <a:endParaRPr b="1" i="0" sz="34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Noto Sans Symbols"/>
              <a:buChar char="○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Strategic placement of awareness materials</a:t>
            </a:r>
            <a:endParaRPr b="1" i="0" sz="34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Noto Sans Symbols"/>
              <a:buChar char="○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Operator vigilance during high-risk hours/events</a:t>
            </a:r>
            <a:endParaRPr b="1" i="0" sz="34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Noto Sans Symbols"/>
              <a:buChar char="○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Focused outreach around persistent hotspots</a:t>
            </a:r>
            <a:endParaRPr b="1" i="0" sz="34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1" i="0" sz="34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Integrating survey analytics + predictive modeling offers a replicable, data-driven framework for early identification, safer reporting, and improved prevention across transit environments.</a:t>
            </a:r>
            <a:endParaRPr b="1" i="0" sz="34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1" i="0" sz="3400" u="none" cap="none" strike="noStrike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0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0"/>
          <p:cNvSpPr/>
          <p:nvPr/>
        </p:nvSpPr>
        <p:spPr>
          <a:xfrm>
            <a:off x="16938820" y="8811897"/>
            <a:ext cx="1349180" cy="1475103"/>
          </a:xfrm>
          <a:custGeom>
            <a:rect b="b" l="l" r="r" t="t"/>
            <a:pathLst>
              <a:path extrusionOk="0" h="1475103" w="1349180">
                <a:moveTo>
                  <a:pt x="0" y="0"/>
                </a:moveTo>
                <a:lnTo>
                  <a:pt x="1349180" y="0"/>
                </a:lnTo>
                <a:lnTo>
                  <a:pt x="1349180" y="1475103"/>
                </a:lnTo>
                <a:lnTo>
                  <a:pt x="0" y="1475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50"/>
          <p:cNvSpPr txBox="1"/>
          <p:nvPr/>
        </p:nvSpPr>
        <p:spPr>
          <a:xfrm>
            <a:off x="1219200" y="342900"/>
            <a:ext cx="16306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64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ACKNOWLEDGEMENTS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50"/>
          <p:cNvSpPr txBox="1"/>
          <p:nvPr/>
        </p:nvSpPr>
        <p:spPr>
          <a:xfrm>
            <a:off x="1219200" y="1409700"/>
            <a:ext cx="15719620" cy="89870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Rutgers MBS Externship and Practicum programs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Transit Agencies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Capital District Transportation Authority - CDTA, Albany, NY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Rio Metro (Regional Transit), Albuquerque, NM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CapMetro, Austin, TX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DASH, Alexandria, 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Chicago Transit Authority - CTA, Chicago, 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Tri-County Metropolitan Transportation District of Oregon- TriMet , Portland, 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Fenton Communications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RSG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PACT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PACT Survivor Council members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PACT Summer Youth Interns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Lori Cohen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Yvonne Chen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Dr. Christian Toala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400"/>
              <a:buFont typeface="Noto Sans Symbols"/>
              <a:buChar char="⮚"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Maressa Jaikumar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E0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1"/>
          <p:cNvSpPr/>
          <p:nvPr/>
        </p:nvSpPr>
        <p:spPr>
          <a:xfrm>
            <a:off x="16938820" y="8811897"/>
            <a:ext cx="1349180" cy="1475103"/>
          </a:xfrm>
          <a:custGeom>
            <a:rect b="b" l="l" r="r" t="t"/>
            <a:pathLst>
              <a:path extrusionOk="0" h="1475103" w="1349180">
                <a:moveTo>
                  <a:pt x="0" y="0"/>
                </a:moveTo>
                <a:lnTo>
                  <a:pt x="1349180" y="0"/>
                </a:lnTo>
                <a:lnTo>
                  <a:pt x="1349180" y="1475103"/>
                </a:lnTo>
                <a:lnTo>
                  <a:pt x="0" y="14751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51"/>
          <p:cNvSpPr/>
          <p:nvPr/>
        </p:nvSpPr>
        <p:spPr>
          <a:xfrm>
            <a:off x="2647613" y="6550100"/>
            <a:ext cx="537448" cy="537448"/>
          </a:xfrm>
          <a:custGeom>
            <a:rect b="b" l="l" r="r" t="t"/>
            <a:pathLst>
              <a:path extrusionOk="0" h="537448" w="537448">
                <a:moveTo>
                  <a:pt x="0" y="0"/>
                </a:moveTo>
                <a:lnTo>
                  <a:pt x="537448" y="0"/>
                </a:lnTo>
                <a:lnTo>
                  <a:pt x="537448" y="537448"/>
                </a:lnTo>
                <a:lnTo>
                  <a:pt x="0" y="537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51"/>
          <p:cNvSpPr/>
          <p:nvPr/>
        </p:nvSpPr>
        <p:spPr>
          <a:xfrm>
            <a:off x="6633458" y="6606150"/>
            <a:ext cx="535599" cy="535599"/>
          </a:xfrm>
          <a:custGeom>
            <a:rect b="b" l="l" r="r" t="t"/>
            <a:pathLst>
              <a:path extrusionOk="0" h="535599" w="535599">
                <a:moveTo>
                  <a:pt x="0" y="0"/>
                </a:moveTo>
                <a:lnTo>
                  <a:pt x="535599" y="0"/>
                </a:lnTo>
                <a:lnTo>
                  <a:pt x="535599" y="535600"/>
                </a:lnTo>
                <a:lnTo>
                  <a:pt x="0" y="535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51"/>
          <p:cNvSpPr/>
          <p:nvPr/>
        </p:nvSpPr>
        <p:spPr>
          <a:xfrm>
            <a:off x="12371046" y="6651400"/>
            <a:ext cx="484086" cy="492594"/>
          </a:xfrm>
          <a:custGeom>
            <a:rect b="b" l="l" r="r" t="t"/>
            <a:pathLst>
              <a:path extrusionOk="0" h="492594" w="484086">
                <a:moveTo>
                  <a:pt x="0" y="0"/>
                </a:moveTo>
                <a:lnTo>
                  <a:pt x="484087" y="0"/>
                </a:lnTo>
                <a:lnTo>
                  <a:pt x="484087" y="492594"/>
                </a:lnTo>
                <a:lnTo>
                  <a:pt x="0" y="4925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51"/>
          <p:cNvSpPr/>
          <p:nvPr/>
        </p:nvSpPr>
        <p:spPr>
          <a:xfrm>
            <a:off x="7676360" y="2919300"/>
            <a:ext cx="2901531" cy="1635408"/>
          </a:xfrm>
          <a:custGeom>
            <a:rect b="b" l="l" r="r" t="t"/>
            <a:pathLst>
              <a:path extrusionOk="0" h="1635408" w="2901531">
                <a:moveTo>
                  <a:pt x="0" y="0"/>
                </a:moveTo>
                <a:lnTo>
                  <a:pt x="2901530" y="0"/>
                </a:lnTo>
                <a:lnTo>
                  <a:pt x="2901530" y="1635409"/>
                </a:lnTo>
                <a:lnTo>
                  <a:pt x="0" y="16354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51"/>
          <p:cNvSpPr txBox="1"/>
          <p:nvPr/>
        </p:nvSpPr>
        <p:spPr>
          <a:xfrm>
            <a:off x="2647624" y="665658"/>
            <a:ext cx="1277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51"/>
          <p:cNvSpPr txBox="1"/>
          <p:nvPr/>
        </p:nvSpPr>
        <p:spPr>
          <a:xfrm>
            <a:off x="12974433" y="6675773"/>
            <a:ext cx="4200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WeArePACT.org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51"/>
          <p:cNvSpPr txBox="1"/>
          <p:nvPr/>
        </p:nvSpPr>
        <p:spPr>
          <a:xfrm>
            <a:off x="6243983" y="5096125"/>
            <a:ext cx="576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CONTACT US: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51"/>
          <p:cNvSpPr txBox="1"/>
          <p:nvPr/>
        </p:nvSpPr>
        <p:spPr>
          <a:xfrm>
            <a:off x="3369386" y="6596898"/>
            <a:ext cx="339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+718.935.9192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51"/>
          <p:cNvSpPr txBox="1"/>
          <p:nvPr/>
        </p:nvSpPr>
        <p:spPr>
          <a:xfrm>
            <a:off x="7407650" y="6620650"/>
            <a:ext cx="4844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info@WeArePACT.org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51"/>
          <p:cNvSpPr txBox="1"/>
          <p:nvPr/>
        </p:nvSpPr>
        <p:spPr>
          <a:xfrm>
            <a:off x="4572000" y="7980903"/>
            <a:ext cx="9144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Corresponding Author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C0"/>
                </a:solidFill>
                <a:latin typeface="Arial"/>
                <a:ea typeface="Arial"/>
                <a:cs typeface="Arial"/>
                <a:sym typeface="Arial"/>
              </a:rPr>
              <a:t>John F. Betak, john@collaborativesolutionsllc.com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51"/>
          <p:cNvSpPr/>
          <p:nvPr/>
        </p:nvSpPr>
        <p:spPr>
          <a:xfrm>
            <a:off x="8759825" y="3653500"/>
            <a:ext cx="546000" cy="53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